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713232"/>
            <a:ext cx="11018520" cy="0"/>
          </a:xfrm>
          <a:prstGeom prst="line">
            <a:avLst/>
          </a:prstGeom>
          <a:noFill/>
          <a:ln w="12700">
            <a:solidFill>
              <a:srgbClr val="D3D8D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6519672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Nb252 BL21 表达量优化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92240"/>
            <a:ext cx="5029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92240"/>
            <a:ext cx="5029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1732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73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Nb252 BL21 表达量优化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188720" y="2148840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5D68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表达相关性质评价与最终候选面板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251960" y="2834640"/>
            <a:ext cx="3703320" cy="0"/>
          </a:xfrm>
          <a:prstGeom prst="line">
            <a:avLst/>
          </a:prstGeom>
          <a:noFill/>
          <a:ln w="25400">
            <a:solidFill>
              <a:srgbClr val="2F6F9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0" y="310896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 条单突  +  11 条双突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840480" y="376732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D68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WT 作为独立实验对照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1645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F6F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PROJECT OVERVIEW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21792" y="34747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3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项目目标与当前结果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49808" y="1078992"/>
            <a:ext cx="6537960" cy="4343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目标：在保持实验界面、天然高保守位点和关键构建体特征不变的前提下，优化 Nb252 的 BL21 表达相关性质。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NetSolP、NanoMelt 和 AntiFold 分别提供可溶性、热稳定性和结构相容性证据。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最终面板由 19 条父单突和 11 条双突组成；全部序列为 128 aa，并保留末端 SSGS。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543800" y="123444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F6F9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847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7543800" y="169164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5D68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允许单突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281160" y="123444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F6F9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19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9281160" y="169164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5D68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父单突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543800" y="27889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F6F9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162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7543800" y="32461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5D68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有效双突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281160" y="27889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F6F9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30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9281160" y="32461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5D68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最终候选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302752" y="468172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F6F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WT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7589520" y="513892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5D68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独立对照，不占候选名额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92240"/>
            <a:ext cx="5029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1645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F6F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DESIGN CONTRACT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21792" y="34747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3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候选生成的硬约束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68680" y="1143000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F6F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实验界面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514600" y="1143000"/>
            <a:ext cx="8641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 个实验复合物界面位置全部不突变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68680" y="1929384"/>
            <a:ext cx="10287000" cy="0"/>
          </a:xfrm>
          <a:prstGeom prst="line">
            <a:avLst/>
          </a:prstGeom>
          <a:noFill/>
          <a:ln w="12700">
            <a:solidFill>
              <a:srgbClr val="E8EE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58568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F6F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天然保守性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514600" y="2258568"/>
            <a:ext cx="8641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Nb252 自身等于天然优势残基的高置信位置冻结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68680" y="3044952"/>
            <a:ext cx="10287000" cy="0"/>
          </a:xfrm>
          <a:prstGeom prst="line">
            <a:avLst/>
          </a:prstGeom>
          <a:noFill/>
          <a:ln w="12700">
            <a:solidFill>
              <a:srgbClr val="E8EE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374136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F6F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构建体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514600" y="3374136"/>
            <a:ext cx="8641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 Cys22、Cys95、128 aa 和末端 SSGS；不引入新 Cys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68680" y="4160520"/>
            <a:ext cx="10287000" cy="0"/>
          </a:xfrm>
          <a:prstGeom prst="line">
            <a:avLst/>
          </a:prstGeom>
          <a:noFill/>
          <a:ln w="12700">
            <a:solidFill>
              <a:srgbClr val="E8EE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489704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F6F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组合范围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514600" y="4489704"/>
            <a:ext cx="8641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双突仅由批准的 19 条父单突在不同位置组合；不生成三突或更高阶突变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68680" y="56692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D68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Q5 是唯一高保守非共识位置，仅开放 Q5V 天然共识回变。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92240"/>
            <a:ext cx="5029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1645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F6F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NATURAL CONSERVATION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21792" y="34747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3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天然 VHH 邻域定义保守性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77240" y="1051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F6F9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4,059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77240" y="150876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5D68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公开非冗余天然 VHH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971800" y="1051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F6F9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3,784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2971800" y="150876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5D68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90% identity 去冗余簇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66360" y="1051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F6F9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1,532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5166360" y="150876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5D68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Nb252 邻域有效簇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2240280"/>
            <a:ext cx="6126480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邻域 coverage ≥ 0.80，优势残基频率 ≥ 0.90，有效簇数 ≥ 50。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全局与邻域优势残基一致，且全局频率 ≥ 0.80。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Nb252 自身残基等于优势残基时才因天然保守性完全冻结。</a:t>
            </a:r>
            <a:endParaRPr lang="en-US" sz="1600" dirty="0"/>
          </a:p>
        </p:txBody>
      </p:sp>
      <p:pic>
        <p:nvPicPr>
          <p:cNvPr id="11" name="Image 0" descr="C:\Users\16217\Desktop\Codex Projects\Antibody_optimization\docs\result_artifacts\weekly_report_result\.report_2026_W34_nb252_expression_route_stage4_20260823\figures\source_constrai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40572" y="4709160"/>
            <a:ext cx="5726096" cy="1051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92240"/>
            <a:ext cx="5029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1645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F6F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PREDICTOR VALIDATION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21792" y="34747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3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 条 BL21 产量数据限定工具角色</a:t>
            </a:r>
            <a:endParaRPr lang="en-US" sz="2400" dirty="0"/>
          </a:p>
        </p:txBody>
      </p:sp>
      <p:pic>
        <p:nvPicPr>
          <p:cNvPr id="4" name="Image 0" descr="C:\Users\16217\Desktop\Codex Projects\Antibody_optimization\docs\result_artifacts\weekly_report_result\.report_2026_W34_nb252_expression_route_stage4_20260823\figures\source_valid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07887"/>
            <a:ext cx="7635240" cy="505370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49640" y="1234440"/>
            <a:ext cx="278892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连续相关和分类性能均只支持有限证据。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PLM_Sol 未提供优于 NetSolP S 的序列簇外增量。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预测器用于性质偏好和风险控制，不直接换算为 mg/L。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549640" y="5029200"/>
            <a:ext cx="2788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3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 NetSolP、NanoMelt、AntiFold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92240"/>
            <a:ext cx="5029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1645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F6F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TOOL ROLES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21792" y="34747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3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三种工具提供互补证据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77240" y="132588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6F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NetSolP S / U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77240" y="199339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可溶性与可用性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65176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5D68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完整单突和双突序列均重新计算；作为软偏好。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06240" y="1261872"/>
            <a:ext cx="0" cy="3383280"/>
          </a:xfrm>
          <a:prstGeom prst="line">
            <a:avLst/>
          </a:prstGeom>
          <a:noFill/>
          <a:ln w="15240">
            <a:solidFill>
              <a:srgbClr val="E8EEF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0" y="132588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6F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NanoMelt Tm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0" y="199339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热稳定性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709160" y="265176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5D68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用于避免明显 Tm 退化，不作为独立产量排序器。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01000" y="1261872"/>
            <a:ext cx="0" cy="3383280"/>
          </a:xfrm>
          <a:prstGeom prst="line">
            <a:avLst/>
          </a:prstGeom>
          <a:noFill/>
          <a:ln w="15240">
            <a:solidFill>
              <a:srgbClr val="E8EEF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66760" y="132588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6F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AntiFold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366760" y="199339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结构相容性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503920" y="265176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5D68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优先实验复合物视图；双突只汇总组成位点证据，不声称上位性。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011680" y="516636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3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同一幅度档内的小数差异不用于精确排序。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92240"/>
            <a:ext cx="5029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1645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F6F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FULL SINGLE-MUTANT LANDSCAPE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21792" y="34747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3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847 条允许单突的四指标景观</a:t>
            </a:r>
            <a:endParaRPr lang="en-US" sz="2400" dirty="0"/>
          </a:p>
        </p:txBody>
      </p:sp>
      <p:pic>
        <p:nvPicPr>
          <p:cNvPr id="4" name="Image 0" descr="C:\Users\16217\Desktop\Codex Projects\Antibody_optimization\docs\result_artifacts\weekly_report_result\.report_2026_W34_nb252_expression_route_stage4_20260823\figures\source_landsca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634" y="914400"/>
            <a:ext cx="7986492" cy="5394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006840" y="1143000"/>
            <a:ext cx="2514600" cy="3977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721 条优先使用实验复合物 AntiFold 视图。</a:t>
            </a:r>
            <a:endParaRPr lang="en-US" sz="1400" dirty="0"/>
          </a:p>
          <a:p>
            <a:pPr marL="228600" indent="-228600"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126 条实验坐标不可评价项以 AF3 VHH 单体结果补充，并保留来源标记。</a:t>
            </a:r>
            <a:endParaRPr lang="en-US" sz="1400" dirty="0"/>
          </a:p>
          <a:p>
            <a:pPr marL="228600" indent="-228600"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多数 U、S 和 Tm 变化很小，因此必须按幅度分档。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92240"/>
            <a:ext cx="5029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1645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F6F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MAGNITUDE-AWARE FILTERING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21792" y="34747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3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变化幅度先分档，再参与筛选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60120" y="11887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F6F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NetSolP ΔU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977640" y="11887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0.005 / 0.010 / 0.015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7909560" y="118872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500" dirty="0">
                <a:solidFill>
                  <a:srgbClr val="5D68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近似中性 / 轻度 / 中等 / 明显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21031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F6F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NetSolP ΔS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3977640" y="21031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0.010 / 0.020 / 0.030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909560" y="210312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500" dirty="0">
                <a:solidFill>
                  <a:srgbClr val="5D68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近似中性 / 轻度 / 中等 / 明显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60120" y="30175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F6F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NanoMelt ΔTm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3977640" y="30175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 / 1.0 / 1.5 °C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7909560" y="301752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500" dirty="0">
                <a:solidFill>
                  <a:srgbClr val="5D68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近似中性 / 轻度 / 中等 / 明显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60120" y="39319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F6F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AntiFold ΔlogP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3977640" y="39319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 / 1.5 / 3.0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909560" y="393192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500" dirty="0">
                <a:solidFill>
                  <a:srgbClr val="5D68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近似中性 / 轻度 / 中等 / 明显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60120" y="5074920"/>
            <a:ext cx="10058400" cy="0"/>
          </a:xfrm>
          <a:prstGeom prst="line">
            <a:avLst/>
          </a:prstGeom>
          <a:noFill/>
          <a:ln w="15240">
            <a:solidFill>
              <a:srgbClr val="E8EE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0" y="539496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3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中性和轻度变化不驱动入围；同档小数差异不参与排序。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92240"/>
            <a:ext cx="5029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1645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F6F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PARENT SINGLE MUTANTS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21792" y="34747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3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30 条单突试选确定 19 条父单突</a:t>
            </a:r>
            <a:endParaRPr lang="en-US" sz="2400" dirty="0"/>
          </a:p>
        </p:txBody>
      </p:sp>
      <p:pic>
        <p:nvPicPr>
          <p:cNvPr id="4" name="Image 0" descr="C:\Users\16217\Desktop\Codex Projects\Antibody_optimization\docs\result_artifacts\weekly_report_result\.report_2026_W34_nb252_expression_route_stage4_20260823\figures\figure_parent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138780"/>
            <a:ext cx="7086600" cy="298023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92440" y="1188720"/>
            <a:ext cx="3154680" cy="3200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F30、Q1、T27 各保留 3 条理化性质不同的替换。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 10 个位置各保留 1 条，扩大位置与机制覆盖。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T99F 保留为稳定词探索单突。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960120" y="480060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73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 条既是独立实验候选，也是双突组合的唯一组成来源。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92240"/>
            <a:ext cx="5029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1645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F6F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DOUBLE-MUTANT SELECTION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21792" y="34747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3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完整枚举并筛选双突组合</a:t>
            </a:r>
            <a:endParaRPr lang="en-US" sz="2400" dirty="0"/>
          </a:p>
        </p:txBody>
      </p:sp>
      <p:pic>
        <p:nvPicPr>
          <p:cNvPr id="4" name="Image 0" descr="C:\Users\16217\Desktop\Codex Projects\Antibody_optimization\docs\result_artifacts\weekly_report_result\.report_2026_W34_nb252_expression_route_stage4_20260823\figures\figure_double_sel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36432"/>
            <a:ext cx="7543800" cy="2984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58200" y="1051560"/>
            <a:ext cx="288036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171 个理论组合中，9 个同位点替换互斥，得到 162 条有效双突。</a:t>
            </a:r>
            <a:endParaRPr lang="en-US" sz="1400" dirty="0"/>
          </a:p>
          <a:p>
            <a:pPr marL="228600" indent="-228600"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84 条通过无硬风险、无中等/明显性质恶化及至少一家族有效改善的资格门。</a:t>
            </a:r>
            <a:endParaRPr lang="en-US" sz="1400" dirty="0"/>
          </a:p>
          <a:p>
            <a:pPr marL="228600" indent="-228600"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全局选择得到 A 层 3 条、B 层 4 条、C 层 4 条。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960120" y="4800600"/>
            <a:ext cx="10241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3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位置对 ≤ 1 条  ·  确切单突 ≤ 2 次  ·  每个位置 ≤ 3 次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960120" y="537667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5D68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双突 U/S/Tm 使用完整序列重算；AntiFold 不声称双突上位性。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92240"/>
            <a:ext cx="5029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1645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F6F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FINAL PANEL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21792" y="34747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3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 30 条候选面板</a:t>
            </a:r>
            <a:endParaRPr lang="en-US" sz="2400" dirty="0"/>
          </a:p>
        </p:txBody>
      </p:sp>
      <p:pic>
        <p:nvPicPr>
          <p:cNvPr id="4" name="Image 0" descr="C:\Users\16217\Desktop\Codex Projects\Antibody_optimization\docs\result_artifacts\weekly_report_result\.report_2026_W34_nb252_expression_route_stage4_20260823\figures\source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140884"/>
            <a:ext cx="10972800" cy="38447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5422392"/>
            <a:ext cx="10378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 条单突用于测量组成替换的独立效应；11 条双突用于检验累积、非加和或拮抗表现。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92240"/>
            <a:ext cx="5029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1645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F6F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SUMMARY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21792" y="34747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3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阶段结果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68680" y="114300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F6F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737360" y="114300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3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约束空间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703320" y="1143000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实验界面、天然高保守位点、二硫键和末端 SSGS 已冻结。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68680" y="1874520"/>
            <a:ext cx="10241280" cy="0"/>
          </a:xfrm>
          <a:prstGeom prst="line">
            <a:avLst/>
          </a:prstGeom>
          <a:noFill/>
          <a:ln w="12700">
            <a:solidFill>
              <a:srgbClr val="E8EEF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28600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F6F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1737360" y="228600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3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单突评价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703320" y="2286000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847 条允许单突已完成 NetSolP、NanoMelt 和 AntiFold 统一评价。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68680" y="3017520"/>
            <a:ext cx="10241280" cy="0"/>
          </a:xfrm>
          <a:prstGeom prst="line">
            <a:avLst/>
          </a:prstGeom>
          <a:noFill/>
          <a:ln w="12700">
            <a:solidFill>
              <a:srgbClr val="E8EEF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42900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F6F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1737360" y="342900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3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候选面板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703320" y="3429000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最终确定 19 条单突和 11 条双突，共 30 条候选。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68680" y="4160520"/>
            <a:ext cx="10241280" cy="0"/>
          </a:xfrm>
          <a:prstGeom prst="line">
            <a:avLst/>
          </a:prstGeom>
          <a:noFill/>
          <a:ln w="12700">
            <a:solidFill>
              <a:srgbClr val="E8EE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57200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F6F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1737360" y="457200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3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实验比较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703320" y="4572000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WT 与 30 条候选进入统一 BL21 表达流程；双突与对应单突同步判读。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2286000" y="580644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5D68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最终序列以交付 CSV 和 FASTA 为准。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92240"/>
            <a:ext cx="5029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Antibody_optimization project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Nb252 BL21 表达量优化</dc:title>
  <dc:subject>Nb252 BL21 expression optimization final 19+11 candidate panel</dc:subject>
  <dc:creator>Antibody_optimization project</dc:creator>
  <cp:lastModifiedBy>Antibody_optimization project</cp:lastModifiedBy>
  <cp:revision>1</cp:revision>
  <dcterms:created xsi:type="dcterms:W3CDTF">2026-08-23T03:37:13Z</dcterms:created>
  <dcterms:modified xsi:type="dcterms:W3CDTF">2026-08-23T03:37:13Z</dcterms:modified>
</cp:coreProperties>
</file>