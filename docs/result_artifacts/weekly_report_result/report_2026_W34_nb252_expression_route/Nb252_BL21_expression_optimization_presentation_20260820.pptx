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476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9728" cy="4526280"/>
          </a:xfrm>
          <a:prstGeom prst="rect">
            <a:avLst/>
          </a:prstGeom>
          <a:solidFill>
            <a:srgbClr val="EF8A32"/>
          </a:solidFill>
          <a:ln w="12700">
            <a:solidFill>
              <a:srgbClr val="EF8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" y="109728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143000" y="20116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D6E7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阶段性计算结果与单突试选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297180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847 条约束单突完成三类性质评价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43000" y="3547872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D6E7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 30 条计算试选；计算优先级不等同于实验验证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5806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9CE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2026.08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109960" y="655624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B9CE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项目目标与当前结果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2344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1143000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在不改变实验界面、天然高保守位点和关键构建体特征的前提下，提出可用于 BL21 表达实验的 Nb252 单突序列。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13232" y="1901952"/>
            <a:ext cx="10607040" cy="0"/>
          </a:xfrm>
          <a:prstGeom prst="line">
            <a:avLst/>
          </a:prstGeom>
          <a:noFill/>
          <a:ln w="15240">
            <a:solidFill>
              <a:srgbClr val="D7E1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331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947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 aa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777240" y="28529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权威亲本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34640" y="2331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C95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2834640" y="28529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硬冻结位置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040" y="2331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327D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3100" dirty="0"/>
          </a:p>
        </p:txBody>
      </p:sp>
      <p:sp>
        <p:nvSpPr>
          <p:cNvPr id="16" name="Text 14"/>
          <p:cNvSpPr/>
          <p:nvPr/>
        </p:nvSpPr>
        <p:spPr>
          <a:xfrm>
            <a:off x="4892040" y="28529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常规扫描位置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49440" y="2331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A9B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847</a:t>
            </a:r>
            <a:endParaRPr lang="en-US" sz="3100" dirty="0"/>
          </a:p>
        </p:txBody>
      </p:sp>
      <p:sp>
        <p:nvSpPr>
          <p:cNvPr id="18" name="Text 16"/>
          <p:cNvSpPr/>
          <p:nvPr/>
        </p:nvSpPr>
        <p:spPr>
          <a:xfrm>
            <a:off x="6949440" y="28529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完整允许单突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06840" y="2331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3100" dirty="0"/>
          </a:p>
        </p:txBody>
      </p:sp>
      <p:sp>
        <p:nvSpPr>
          <p:cNvPr id="20" name="Text 18"/>
          <p:cNvSpPr/>
          <p:nvPr/>
        </p:nvSpPr>
        <p:spPr>
          <a:xfrm>
            <a:off x="9006840" y="28529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当前计算试选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416052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硬约束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" y="4590288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个位置冻结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127248" y="4690872"/>
            <a:ext cx="347472" cy="0"/>
          </a:xfrm>
          <a:prstGeom prst="line">
            <a:avLst/>
          </a:prstGeom>
          <a:noFill/>
          <a:ln w="19050">
            <a:solidFill>
              <a:srgbClr val="657784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02736" y="416052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允许空间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602736" y="4590288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847 条单突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888736" y="4690872"/>
            <a:ext cx="347472" cy="0"/>
          </a:xfrm>
          <a:prstGeom prst="line">
            <a:avLst/>
          </a:prstGeom>
          <a:noFill/>
          <a:ln w="19050">
            <a:solidFill>
              <a:srgbClr val="657784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6364224" y="416052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性质评价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364224" y="4590288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/ NanoMelt / AntiFold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650224" y="4690872"/>
            <a:ext cx="347472" cy="0"/>
          </a:xfrm>
          <a:prstGeom prst="line">
            <a:avLst/>
          </a:prstGeom>
          <a:noFill/>
          <a:ln w="19050">
            <a:solidFill>
              <a:srgbClr val="657784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9125712" y="416052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计算试选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25712" y="4590288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条单突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 CONTRACT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候选生成先满足硬约束，再比较预测性质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pic>
        <p:nvPicPr>
          <p:cNvPr id="8" name="Image 0" descr="C:\Users\16217\Desktop\Codex Projects\Antibody_optimization\docs\result_artifacts\weekly_report_result\report_2026_W34_nb252_expression_route\figures\source_constraint_trac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10835640" cy="2788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4251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04672" y="4617720"/>
            <a:ext cx="2331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个实验复合物界面位点不突变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19272" y="4233672"/>
            <a:ext cx="0" cy="1325880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6160" y="4251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保守性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66160" y="4617720"/>
            <a:ext cx="2331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 个亲本匹配的天然高保守位点冻结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080760" y="4233672"/>
            <a:ext cx="0" cy="1325880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27648" y="4251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构建体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327648" y="4617720"/>
            <a:ext cx="2331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Cys22、Cys95 与末端 SSGS 保持不变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842248" y="4233672"/>
            <a:ext cx="0" cy="1325880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89136" y="4251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9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特例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089136" y="4617720"/>
            <a:ext cx="2331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Q5 仅允许天然共识回变 Q5V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NATURAL CONSERVATION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天然 VHH 邻域提供位置保守性证据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pic>
        <p:nvPicPr>
          <p:cNvPr id="8" name="Image 0" descr="C:\Users\16217\Desktop\Codex Projects\Antibody_optimization\docs\result_artifacts\weekly_report_result\report_2026_W34_nb252_expression_route\figures\source_natural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8458200" cy="52303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464040" y="1417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947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4,059</a:t>
            </a:r>
            <a:endParaRPr lang="en-US" sz="3100" dirty="0"/>
          </a:p>
        </p:txBody>
      </p:sp>
      <p:sp>
        <p:nvSpPr>
          <p:cNvPr id="10" name="Text 7"/>
          <p:cNvSpPr/>
          <p:nvPr/>
        </p:nvSpPr>
        <p:spPr>
          <a:xfrm>
            <a:off x="9464040" y="19385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公开非冗余天然 VHH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464040" y="2788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3,784</a:t>
            </a:r>
            <a:endParaRPr lang="en-US" sz="3100" dirty="0"/>
          </a:p>
        </p:txBody>
      </p:sp>
      <p:sp>
        <p:nvSpPr>
          <p:cNvPr id="12" name="Text 9"/>
          <p:cNvSpPr/>
          <p:nvPr/>
        </p:nvSpPr>
        <p:spPr>
          <a:xfrm>
            <a:off x="9464040" y="33101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90% identity 去冗余簇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464040" y="41605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1,532</a:t>
            </a:r>
            <a:endParaRPr lang="en-US" sz="3100" dirty="0"/>
          </a:p>
        </p:txBody>
      </p:sp>
      <p:sp>
        <p:nvSpPr>
          <p:cNvPr id="14" name="Text 11"/>
          <p:cNvSpPr/>
          <p:nvPr/>
        </p:nvSpPr>
        <p:spPr>
          <a:xfrm>
            <a:off x="9464040" y="46817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邻域有效簇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253728" y="5303520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高覆盖、高频、全局/邻域共识一致，且 Nb252 自身残基等于优势残基时，位置才因天然保守性冻结。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PREDICTOR VALIDATION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条 BL21 产量数据用于限定工具证据边界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pic>
        <p:nvPicPr>
          <p:cNvPr id="8" name="Image 0" descr="C:\Users\16217\Desktop\Codex Projects\Antibody_optimization\docs\result_artifacts\weekly_report_result\report_2026_W34_nb252_expression_route\figures\figure_tool_yield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051560"/>
            <a:ext cx="7909560" cy="53035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41080" y="12344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27D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连续关联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641080" y="1627632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来源分层 Spearman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U  0.394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S  0.376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NanoMelt Tm  0.040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PLM_Sol  0.473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641080" y="3310128"/>
            <a:ext cx="2542032" cy="0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41080" y="356616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mg/L 展示性分类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641080" y="3959352"/>
            <a:ext cx="2560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S ROC-AUC 0.777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PLM_Sol ROC-AUC 0.761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641080" y="514807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样本量与数据语义限制了外推；这些结果用于规定工具角色，不直接证明候选能提高表达量。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 ROLES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三种工具提供互补信息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9808" y="14173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327D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S / U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49808" y="1993392"/>
            <a:ext cx="2697480" cy="0"/>
          </a:xfrm>
          <a:prstGeom prst="line">
            <a:avLst/>
          </a:prstGeom>
          <a:noFill/>
          <a:ln w="30480">
            <a:solidFill>
              <a:srgbClr val="327D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267712"/>
            <a:ext cx="2743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序列层面的可溶性与可用性预测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49808" y="3529584"/>
            <a:ext cx="2743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作为可溶性软偏好；与产量仅有限正相关。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794760" y="1325880"/>
            <a:ext cx="0" cy="3913632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60520" y="14173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NanoMelt Tm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4160520" y="1993392"/>
            <a:ext cx="2697480" cy="0"/>
          </a:xfrm>
          <a:prstGeom prst="line">
            <a:avLst/>
          </a:prstGeom>
          <a:noFill/>
          <a:ln w="30480">
            <a:solidFill>
              <a:srgbClr val="EF8A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267712"/>
            <a:ext cx="2743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纳米抗体表观熔解温度预测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160520" y="3529584"/>
            <a:ext cx="2743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用于避免明显热稳定性退化，不作为产量排序器。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205472" y="1325880"/>
            <a:ext cx="0" cy="3913632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71232" y="14173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AntiFold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71232" y="1993392"/>
            <a:ext cx="2697480" cy="0"/>
          </a:xfrm>
          <a:prstGeom prst="line">
            <a:avLst/>
          </a:prstGeom>
          <a:noFill/>
          <a:ln w="30480">
            <a:solidFill>
              <a:srgbClr val="2C8C9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71232" y="2267712"/>
            <a:ext cx="2743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结构环境下逐位点氨基酸相容性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7571232" y="3529584"/>
            <a:ext cx="2743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优先采用实验 NK2R–Nb252 复合物视图；缺坐标时单独标注 AF3 补充。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097280" y="5577840"/>
            <a:ext cx="9966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PLM_Sol 与 NetSolP 高度重叠，加入 NetSolP S 后序列簇外 Spearman 反而下降 0.140，因此不重复纳入候选排序。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FULL SINGLE-MUTANT LANDSCAPE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847 条单突的四指标景观已完整建立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pic>
        <p:nvPicPr>
          <p:cNvPr id="8" name="Image 0" descr="C:\Users\16217\Desktop\Codex Projects\Antibody_optimization\docs\result_artifacts\weekly_report_result\report_2026_W34_nb252_expression_route\figures\source_landsca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024128"/>
            <a:ext cx="8595360" cy="53400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0" y="1325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27D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四项预测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326880" y="1755648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ΔU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ΔS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NanoMelt ΔTm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AntiFold ΔlogP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326880" y="3246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结构来源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9326880" y="367588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721 条：实验复合物视图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126 条：实验坐标不可评价，以 AF3 VHH 单体视图补充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326880" y="516636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各面板量纲不同，颜色深浅不能跨面板直接比较。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MAGNITUDE-AWARE FILTERING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先按变化幅度分档，再形成候选短名单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pic>
        <p:nvPicPr>
          <p:cNvPr id="8" name="Image 0" descr="C:\Users\16217\Desktop\Codex Projects\Antibody_optimization\docs\result_artifacts\weekly_report_result\report_2026_W34_nb252_expression_route\figures\source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43000"/>
            <a:ext cx="7452360" cy="5074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47888" y="12801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27D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ΔU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47888" y="161848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0.005 / 0.010 / 0.015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247888" y="1920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 / 微弱 / 中等 / 明显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47888" y="2286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27D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ΔS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247888" y="26243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0.010 / 0.020 / 0.030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247888" y="29260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 / 微弱 / 中等 / 明显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47888" y="3291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NanoMelt ΔTm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247888" y="36301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 / 1.0 / 1.5 °C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247888" y="39319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 / 微弱 / 中等 / 明显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247888" y="4297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AntiFold ΔlogP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8247888" y="46360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 / 1.5 / 3.0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8247888" y="49377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 / 微弱 / 中等 / 明显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11312" y="543153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中性和微弱变化不参与入围或同档排序；候选需无明显恶化，并至少有一个工具家族达到中等改善。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SELECTION SUMMARY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847 条允许单突形成 30 条计算试选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pic>
        <p:nvPicPr>
          <p:cNvPr id="8" name="Image 0" descr="C:\Users\16217\Desktop\Codex Projects\Antibody_optimization\docs\result_artifacts\weekly_report_result\report_2026_W34_nb252_expression_route\figures\figure_selection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078992"/>
            <a:ext cx="6629400" cy="5138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12984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试选构成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479792" y="1874520"/>
            <a:ext cx="3249168" cy="530352"/>
          </a:xfrm>
          <a:prstGeom prst="rect">
            <a:avLst/>
          </a:prstGeom>
          <a:solidFill>
            <a:srgbClr val="2C8C9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28960" y="1874520"/>
            <a:ext cx="374904" cy="530352"/>
          </a:xfrm>
          <a:prstGeom prst="rect">
            <a:avLst/>
          </a:prstGeom>
          <a:solidFill>
            <a:srgbClr val="EF8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103864" y="1874520"/>
            <a:ext cx="124968" cy="530352"/>
          </a:xfrm>
          <a:prstGeom prst="rect">
            <a:avLst/>
          </a:prstGeom>
          <a:solidFill>
            <a:srgbClr val="D99A0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79792" y="263347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2300" dirty="0"/>
          </a:p>
        </p:txBody>
      </p:sp>
      <p:sp>
        <p:nvSpPr>
          <p:cNvPr id="14" name="Text 11"/>
          <p:cNvSpPr/>
          <p:nvPr/>
        </p:nvSpPr>
        <p:spPr>
          <a:xfrm>
            <a:off x="7927848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严格核心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759952" y="263347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9208008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受控权衡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40112" y="263347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9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300" dirty="0"/>
          </a:p>
        </p:txBody>
      </p:sp>
      <p:sp>
        <p:nvSpPr>
          <p:cNvPr id="18" name="Text 15"/>
          <p:cNvSpPr/>
          <p:nvPr/>
        </p:nvSpPr>
        <p:spPr>
          <a:xfrm>
            <a:off x="10488168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稳定词探索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52360" y="3291840"/>
            <a:ext cx="3794760" cy="0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52360" y="354787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位点分布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7452360" y="3977640"/>
            <a:ext cx="3749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F30    9 条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Q1      5 条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T27    4 条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 10 个位置    12 条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7452360" y="539496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条覆盖 13 个位置；当前结果保留了强证据候选，因此出现明显位点集中。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SUMMARY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阶段结论与后续工作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9808" y="12344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123444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约束空间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56432" y="1207008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个位置冻结，47 个位置常规扫描并保留 Q5V，共形成 847 条允许单突。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49808" y="2039112"/>
            <a:ext cx="10424160" cy="0"/>
          </a:xfrm>
          <a:prstGeom prst="line">
            <a:avLst/>
          </a:prstGeom>
          <a:noFill/>
          <a:ln w="11430">
            <a:solidFill>
              <a:srgbClr val="D7E1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33172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233172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预测评价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56432" y="2304288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NetSolP、NanoMelt 与 AntiFold 已完成全空间评价；三者分别承担可溶性、热稳定性和结构相容性证据。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49808" y="3136392"/>
            <a:ext cx="10424160" cy="0"/>
          </a:xfrm>
          <a:prstGeom prst="line">
            <a:avLst/>
          </a:prstGeom>
          <a:noFill/>
          <a:ln w="11430">
            <a:solidFill>
              <a:srgbClr val="D7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342900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17320" y="34290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计算试选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456432" y="3401568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 30 条由 26 条严格核心、3 条受控权衡和 1 条稳定词探索构成，覆盖 13 个位置。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49808" y="4233672"/>
            <a:ext cx="10424160" cy="0"/>
          </a:xfrm>
          <a:prstGeom prst="line">
            <a:avLst/>
          </a:prstGeom>
          <a:noFill/>
          <a:ln w="11430">
            <a:solidFill>
              <a:srgbClr val="D7E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45262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17320" y="452628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实验步骤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456432" y="4498848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确认试选构成后冻结 FASTA/CSV；在 BL21 体系测定单突表达量，并保留 WT、重复和失败结果。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920240" y="585216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5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计算结果用于确定实验优先级；表达量提升仍需 BL21 实验验证。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Tianlab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Nb252 BL21 表达量优化</dc:title>
  <dc:subject>Nb252 BL21 expression optimization</dc:subject>
  <dc:creator>Antibody_optimization</dc:creator>
  <cp:lastModifiedBy>Antibody_optimization</cp:lastModifiedBy>
  <cp:revision>1</cp:revision>
  <dcterms:created xsi:type="dcterms:W3CDTF">2026-08-20T11:50:45Z</dcterms:created>
  <dcterms:modified xsi:type="dcterms:W3CDTF">2026-08-20T11:50:45Z</dcterms:modified>
</cp:coreProperties>
</file>